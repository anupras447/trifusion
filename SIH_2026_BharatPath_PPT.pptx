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"/>
            <a:ext cx="9966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224B7F"/>
                </a:solidFill>
                <a:latin typeface="Times New Roman"/>
              </a:rPr>
              <a:t>SMART INDIA HACKATHON 2025</a:t>
            </a:r>
          </a:p>
        </p:txBody>
      </p:sp>
      <p:pic>
        <p:nvPicPr>
          <p:cNvPr id="3" name="Picture 2" descr="sih_logo_top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8288"/>
            <a:ext cx="1828800" cy="6858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1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pic>
        <p:nvPicPr>
          <p:cNvPr id="6" name="Picture 5" descr="sih_hero_graph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097280"/>
            <a:ext cx="5394960" cy="5212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14173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•  Problem Statement ID –  [FILL: SIHXXXX]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•  Problem Statement Title - Adaptive Path Planning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•  and Collision Avoidance for Autonomous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•  Vehicles on Unstructured Indian Roads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3756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•  Theme - Transportation &amp; Logistics / Smart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•  PS Category - Software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•  Team ID -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834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</a:rPr>
              <a:t>•  Team Name - BharatPath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h_logo_top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8288"/>
            <a:ext cx="1828800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1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5" name="Oval 4"/>
          <p:cNvSpPr/>
          <p:nvPr/>
        </p:nvSpPr>
        <p:spPr>
          <a:xfrm>
            <a:off x="228600" y="685800"/>
            <a:ext cx="1234440" cy="777240"/>
          </a:xfrm>
          <a:prstGeom prst="ellipse">
            <a:avLst/>
          </a:prstGeom>
          <a:noFill/>
          <a:ln w="25400">
            <a:solidFill>
              <a:srgbClr val="5B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Arial"/>
              </a:rPr>
              <a:t>BharatPath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400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IDEA TITLE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u="sng">
                <a:solidFill>
                  <a:srgbClr val="1F497D"/>
                </a:solidFill>
                <a:latin typeface="Arial"/>
              </a:rPr>
              <a:t>•  Proposed Solution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Arial"/>
              </a:rPr>
              <a:t>BharatPath — closed-loop adaptive planner for unstructured Indian roads: YOLOv8n + U-Net → BEV grid → Kalman + DQN prediction → Frenet lattice + safety-bubble filter → bicycle-model control, validated on 5 seeded scenarios.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560" y="2931160"/>
            <a:ext cx="3200400" cy="32918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" y="2880360"/>
            <a:ext cx="3200400" cy="3291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Addressing the Problem :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  <a:latin typeface="Arial"/>
              </a:rPr>
              <a:t>•  Early collision-free path in lane-less, mixed traffic (autos, bikes, pedestrians, cattle).</a:t>
            </a:r>
          </a:p>
          <a:p>
            <a:pPr algn="l">
              <a:spcBef>
                <a:spcPts val="200"/>
              </a:spcBef>
            </a:pPr>
            <a:r>
              <a:rPr sz="1100">
                <a:solidFill>
                  <a:srgbClr val="000000"/>
                </a:solidFill>
                <a:latin typeface="Arial"/>
              </a:rPr>
              <a:t>•  Helps ego yield, overtake, brake with visible replan (green chosen / red rejected).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2880360"/>
            <a:ext cx="3840480" cy="3291840"/>
          </a:xfrm>
          <a:prstGeom prst="roundRect">
            <a:avLst/>
          </a:prstGeom>
          <a:solidFill>
            <a:srgbClr val="E8F1F8"/>
          </a:solidFill>
          <a:ln w="1587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latin typeface="Arial"/>
              </a:rPr>
              <a:t>PERCEPTION: YOLOv8n + U-Net → BEV 128×128</a:t>
            </a:r>
          </a:p>
          <a:p>
            <a:pPr>
              <a:spcBef>
                <a:spcPts val="400"/>
              </a:spcBef>
            </a:pPr>
            <a:r>
              <a:rPr sz="1100">
                <a:latin typeface="Arial"/>
              </a:rPr>
              <a:t>▼  PREDICTION: Kalman CV + DQN head (8 agents × 5 steps)</a:t>
            </a:r>
          </a:p>
          <a:p>
            <a:pPr>
              <a:spcBef>
                <a:spcPts val="400"/>
              </a:spcBef>
            </a:pPr>
            <a:r>
              <a:rPr sz="1100">
                <a:latin typeface="Arial"/>
              </a:rPr>
              <a:t>▼  PLANNING: Frenet lattice (12 paths) + cost + SAT check</a:t>
            </a:r>
          </a:p>
          <a:p>
            <a:pPr>
              <a:spcBef>
                <a:spcPts val="400"/>
              </a:spcBef>
            </a:pPr>
            <a:r>
              <a:rPr sz="1100">
                <a:latin typeface="Arial"/>
              </a:rPr>
              <a:t>▼  SAFETY: Bubble-1 decel / Bubble-2 e-brake / rear veto</a:t>
            </a:r>
          </a:p>
          <a:p>
            <a:pPr>
              <a:spcBef>
                <a:spcPts val="400"/>
              </a:spcBef>
            </a:pPr>
            <a:r>
              <a:rPr sz="1100">
                <a:latin typeface="Arial"/>
              </a:rPr>
              <a:t>▼  CONTROL: bicycle model + pure-pursuit → metrics HUD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8960" y="2931160"/>
            <a:ext cx="3657600" cy="9601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138160" y="2880360"/>
            <a:ext cx="36576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000000"/>
                </a:solidFill>
                <a:latin typeface="Arial"/>
              </a:rPr>
              <a:t>•  DQN + lattice + adaptive bubbles for non-lane motion.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8960" y="4074160"/>
            <a:ext cx="3657600" cy="9601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4023360"/>
            <a:ext cx="365760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000000"/>
                </a:solidFill>
                <a:latin typeface="Arial"/>
              </a:rPr>
              <a:t>•  Real IDD perception feeding planner (ONNX, CPU).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8960" y="5217160"/>
            <a:ext cx="3657600" cy="10058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5166360"/>
            <a:ext cx="365760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00">
                <a:solidFill>
                  <a:srgbClr val="000000"/>
                </a:solidFill>
                <a:latin typeface="Arial"/>
              </a:rPr>
              <a:t>•  Dashboard + alerts: replan ms, TTC, action tags.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06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Solution overview 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h_logo_top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8288"/>
            <a:ext cx="1828800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1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" name="Oval 4"/>
          <p:cNvSpPr/>
          <p:nvPr/>
        </p:nvSpPr>
        <p:spPr>
          <a:xfrm>
            <a:off x="228600" y="685800"/>
            <a:ext cx="1234440" cy="777240"/>
          </a:xfrm>
          <a:prstGeom prst="ellipse">
            <a:avLst/>
          </a:prstGeom>
          <a:noFill/>
          <a:ln w="25400">
            <a:solidFill>
              <a:srgbClr val="5B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Arial"/>
              </a:rPr>
              <a:t>BharatPath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400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Arial"/>
              </a:rPr>
              <a:t>Technologies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•  Frontend/viz: Three.js HUD + pygame sim (60 fps interp).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651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•  Backend: Python planner @20Hz, physics @50Hz, WS /state.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154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•  AI/ML: YOLOv8n (12 IDD classes), U-Net road-seg, Dueling Double DQN + PER + BC.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•  Fusion: 9-ch geometry → BEV occupancy + Kalman tracker.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160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•  Control: kinematic bicycle + pure-pursuit; SAT collision.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600200"/>
            <a:ext cx="2651760" cy="566928"/>
          </a:xfrm>
          <a:prstGeom prst="roundRect">
            <a:avLst/>
          </a:prstGeom>
          <a:solidFill>
            <a:srgbClr val="A8E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latin typeface="Arial"/>
              </a:rPr>
              <a:t>Step I: Scenario + IDD data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258568"/>
            <a:ext cx="2651760" cy="566928"/>
          </a:xfrm>
          <a:prstGeom prst="roundRect">
            <a:avLst/>
          </a:prstGeom>
          <a:solidFill>
            <a:srgbClr val="A8D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latin typeface="Arial"/>
              </a:rPr>
              <a:t>Step II: Preprocess — detect + segment → BEV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2916935"/>
            <a:ext cx="2651760" cy="566928"/>
          </a:xfrm>
          <a:prstGeom prst="roundRect">
            <a:avLst/>
          </a:prstGeom>
          <a:solidFill>
            <a:srgbClr val="E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latin typeface="Arial"/>
              </a:rPr>
              <a:t>Step III: Train/predict — Kalman + DQN trajectory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575303"/>
            <a:ext cx="2651760" cy="566928"/>
          </a:xfrm>
          <a:prstGeom prst="roundRect">
            <a:avLst/>
          </a:prstGeom>
          <a:solidFill>
            <a:srgbClr val="F0C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latin typeface="Arial"/>
              </a:rPr>
              <a:t>Step IV: Lattice plan + bubble safety filter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4233671"/>
            <a:ext cx="2651760" cy="566928"/>
          </a:xfrm>
          <a:prstGeom prst="roundRect">
            <a:avLst/>
          </a:prstGeom>
          <a:solidFill>
            <a:srgbClr val="C0A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latin typeface="Arial"/>
              </a:rPr>
              <a:t>Step V: Metrics + HUD (ms, TTC, jerk, completion)</a:t>
            </a:r>
          </a:p>
        </p:txBody>
      </p:sp>
      <p:sp>
        <p:nvSpPr>
          <p:cNvPr id="18" name="Oval 17"/>
          <p:cNvSpPr/>
          <p:nvPr/>
        </p:nvSpPr>
        <p:spPr>
          <a:xfrm>
            <a:off x="7223760" y="3108960"/>
            <a:ext cx="1371600" cy="914400"/>
          </a:xfrm>
          <a:prstGeom prst="ellipse">
            <a:avLst/>
          </a:prstGeom>
          <a:solidFill>
            <a:srgbClr val="01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BEV
+TRACKS</a:t>
            </a:r>
          </a:p>
        </p:txBody>
      </p:sp>
      <p:sp>
        <p:nvSpPr>
          <p:cNvPr id="19" name="Oval 18"/>
          <p:cNvSpPr/>
          <p:nvPr/>
        </p:nvSpPr>
        <p:spPr>
          <a:xfrm>
            <a:off x="8869680" y="1828800"/>
            <a:ext cx="1280160" cy="731520"/>
          </a:xfrm>
          <a:prstGeom prst="ellipse">
            <a:avLst/>
          </a:prstGeom>
          <a:solidFill>
            <a:srgbClr val="01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Perceive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87451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BEV grid @10Hz + 12-class boxes</a:t>
            </a:r>
          </a:p>
        </p:txBody>
      </p:sp>
      <p:sp>
        <p:nvSpPr>
          <p:cNvPr id="21" name="Oval 20"/>
          <p:cNvSpPr/>
          <p:nvPr/>
        </p:nvSpPr>
        <p:spPr>
          <a:xfrm>
            <a:off x="8869680" y="3246120"/>
            <a:ext cx="1280160" cy="731520"/>
          </a:xfrm>
          <a:prstGeom prst="ellipse">
            <a:avLst/>
          </a:prstGeom>
          <a:solidFill>
            <a:srgbClr val="01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Predict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87000" y="329183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8 agents × 5 steps @1s horizon</a:t>
            </a:r>
          </a:p>
        </p:txBody>
      </p:sp>
      <p:sp>
        <p:nvSpPr>
          <p:cNvPr id="23" name="Oval 22"/>
          <p:cNvSpPr/>
          <p:nvPr/>
        </p:nvSpPr>
        <p:spPr>
          <a:xfrm>
            <a:off x="8869680" y="4663440"/>
            <a:ext cx="1280160" cy="731520"/>
          </a:xfrm>
          <a:prstGeom prst="ellipse">
            <a:avLst/>
          </a:prstGeom>
          <a:solidFill>
            <a:srgbClr val="01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470915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</a:rPr>
              <a:t>12 paths, p95 &lt;50ms, 0 collisions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h_logo_top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8288"/>
            <a:ext cx="1828800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1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5" name="Oval 4"/>
          <p:cNvSpPr/>
          <p:nvPr/>
        </p:nvSpPr>
        <p:spPr>
          <a:xfrm>
            <a:off x="228600" y="685800"/>
            <a:ext cx="1234440" cy="777240"/>
          </a:xfrm>
          <a:prstGeom prst="ellipse">
            <a:avLst/>
          </a:prstGeom>
          <a:noFill/>
          <a:ln w="25400">
            <a:solidFill>
              <a:srgbClr val="5B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Arial"/>
              </a:rPr>
              <a:t>BharatPath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400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Feasibility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560" y="2108200"/>
            <a:ext cx="3017520" cy="9144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2057400"/>
            <a:ext cx="3017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•  Time-feasible – scenario YAMLs → train → dashboard in 3-week sprint.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560" y="3159760"/>
            <a:ext cx="3017520" cy="9144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3108960"/>
            <a:ext cx="3017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•  Scalable – density budgets per scenario; ONNX swaps in/out.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560" y="4211320"/>
            <a:ext cx="3017520" cy="9144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5760" y="4160520"/>
            <a:ext cx="3017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•  Low cost – open-source (Ultralytics, ONNX, Three.js), CPU-only.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560" y="5262879"/>
            <a:ext cx="3017520" cy="91440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65760" y="5212079"/>
            <a:ext cx="301752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•  Modular design – perception / planning / control update independently.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600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5-scenario validation matrix (seeded, repeatable):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023360" y="2057400"/>
          <a:ext cx="76809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Trigger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Success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S1 village, no lanes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cow steps in @t=8s, 15m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pass, stop&lt;3s, 0 hits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S2 intersection, no signal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2 autos + bike @t=5,7s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yield, clear &lt;30s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S3 highway 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truck merges @t=6s + tailgater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overtake, TTC&gt;2s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S4 market shared space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cart @t=10s + 3 peds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horn + crawl &lt;10kmph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S5 cattle sprint (emergency)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cow sprints @t=7s, 20m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0">
                          <a:latin typeface="Arial"/>
                        </a:rPr>
                        <a:t>e-brake, gap &gt;2m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4023360" y="548640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•  Challenges: perception latency → last-grid fallback  •  DQN risk → safe-heuristic flag  •  Offline stage → vendored three.min.js + backup video  •  MATLAB ask → semantics-identical Python (report §7).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h_logo_top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8288"/>
            <a:ext cx="1828800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1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5" name="Oval 4"/>
          <p:cNvSpPr/>
          <p:nvPr/>
        </p:nvSpPr>
        <p:spPr>
          <a:xfrm>
            <a:off x="228600" y="685800"/>
            <a:ext cx="1234440" cy="777240"/>
          </a:xfrm>
          <a:prstGeom prst="ellipse">
            <a:avLst/>
          </a:prstGeom>
          <a:noFill/>
          <a:ln w="25400">
            <a:solidFill>
              <a:srgbClr val="5B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Arial"/>
              </a:rPr>
              <a:t>BharatPath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400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Arial"/>
              </a:rPr>
              <a:t>Impacts 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560" y="2016760"/>
            <a:ext cx="5120640" cy="19202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" y="1965960"/>
            <a:ext cx="5120640" cy="1920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000">
                <a:solidFill>
                  <a:srgbClr val="000000"/>
                </a:solidFill>
                <a:latin typeface="Arial"/>
              </a:rPr>
              <a:t>•  Collision-free runs across 5 scenarios (target 15/15 seeded).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 Visible replanning builds judge/trust + regulator confidence.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 Smooth paths (low jerk) cut fuel use and near-misses.</a:t>
            </a:r>
          </a:p>
          <a:p>
            <a:pPr algn="l">
              <a:spcBef>
                <a:spcPts val="200"/>
              </a:spcBef>
            </a:pPr>
            <a:r>
              <a:rPr sz="1000">
                <a:solidFill>
                  <a:srgbClr val="000000"/>
                </a:solidFill>
                <a:latin typeface="Arial"/>
              </a:rPr>
              <a:t>•  CPU-only stack deployable in colleges / fleets.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560" y="4119880"/>
            <a:ext cx="2103120" cy="21031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5760" y="4069080"/>
            <a:ext cx="21031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Social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•  Saves lives → alerts + e-brake (SMS/Dashboard).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•  Trust via real-time monitoring.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02560" y="4531360"/>
            <a:ext cx="2103120" cy="169164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51760" y="4480560"/>
            <a:ext cx="2103120" cy="1691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Economic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•  Zero-crash demo; reuses open weights + sim.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88560" y="4119880"/>
            <a:ext cx="2103120" cy="21031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937760" y="4069080"/>
            <a:ext cx="210312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>
                <a:solidFill>
                  <a:srgbClr val="000000"/>
                </a:solidFill>
                <a:latin typeface="Arial"/>
              </a:rPr>
              <a:t>Environmental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•  Fewer hard brakes → less fuel/tyre wear.</a:t>
            </a:r>
          </a:p>
          <a:p>
            <a:pPr algn="l">
              <a:spcBef>
                <a:spcPts val="200"/>
              </a:spcBef>
            </a:pPr>
            <a:r>
              <a:rPr sz="900">
                <a:solidFill>
                  <a:srgbClr val="000000"/>
                </a:solidFill>
                <a:latin typeface="Arial"/>
              </a:rPr>
              <a:t>•  Diversion over destruction in alerts.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5544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Arial"/>
              </a:rPr>
              <a:t>Metrics (eval/run_all.py — 5 scenarios × 3 seeds):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498079" y="1965960"/>
          <a:ext cx="4023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r>
                        <a:rPr sz="800" b="1">
                          <a:latin typeface="Arial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latin typeface="Arial"/>
                        </a:rPr>
                        <a:t>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latin typeface="Arial"/>
                        </a:rPr>
                        <a:t>How measured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1">
                          <a:latin typeface="Arial"/>
                        </a:rPr>
                        <a:t>Status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Collisions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SAT check/log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fill: eval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Replan p95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&lt;50ms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perf_counter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fill: eval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Min TTC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&gt;2s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BEV rollout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fill: eval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Jerk 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accel clamp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fill: eval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route dist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b="0">
                          <a:latin typeface="Arial"/>
                        </a:rPr>
                        <a:t>fill: eval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498079" y="493776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Arial"/>
              </a:rPr>
              <a:t>Demo order: S5 (drama first) → S1 → S3 → S2 → S4. HUD shows speed, action tag (e.g. YIELD_TO_PEDESTRIAN), replan ms, TTC.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h_logo_top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8288"/>
            <a:ext cx="1828800" cy="685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171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739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5" name="Oval 4"/>
          <p:cNvSpPr/>
          <p:nvPr/>
        </p:nvSpPr>
        <p:spPr>
          <a:xfrm>
            <a:off x="228600" y="685800"/>
            <a:ext cx="1234440" cy="777240"/>
          </a:xfrm>
          <a:prstGeom prst="ellipse">
            <a:avLst/>
          </a:prstGeom>
          <a:noFill/>
          <a:ln w="25400">
            <a:solidFill>
              <a:srgbClr val="5B5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>
                <a:solidFill>
                  <a:srgbClr val="000000"/>
                </a:solidFill>
                <a:latin typeface="Arial"/>
              </a:rPr>
              <a:t>BharatPath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6400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0000"/>
                </a:solidFill>
                <a:latin typeface="Times New Roman"/>
              </a:rPr>
              <a:t>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A.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•  IDD (idd20kII) shows lane-less mixed traffic needs beyond lane-geometry planners; our 12-class YOLO + road-seg covers autos, bikes, pedestrians, animals.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•  Dueling Double DQN + PER with trajectory head fuses learned residuals over Kalman CV baseline (pred = CV + λ·DQN).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63239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•  Frenet lattice + SAT safety-bubble veto gives auditable replan vs black-box steering.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566159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•  MathWorks mapping: RoadRunner↔YAML scenes, AD Toolbox↔BEV fusion, Nav Toolbox↔lattice, Stateflow↔choose_bot_action, bicycle model, DL Toolbox↔YOLO/U-Net/DQN.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Arial"/>
              </a:rPr>
              <a:t>B. References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1. IDD dataset (idd20kII) + devkit;  2. Ultralytics YOLOv8 / MobileSAM;  3. U-Net road segmentation (BCE+Dice);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4. Dueling Double DQN + Prioritized Replay;  5. SIH problem-statement + evaluation rubric (5 scenarios, latency/smoothness/completion);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Arial"/>
              </a:rPr>
              <a:t>6. Demo: [FILL video link]   Repo: [FILL github link]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